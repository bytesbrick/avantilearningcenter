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0" r:id="rId5"/>
    <p:sldId id="267" r:id="rId6"/>
    <p:sldId id="268" r:id="rId7"/>
    <p:sldId id="271" r:id="rId8"/>
    <p:sldId id="258" r:id="rId9"/>
    <p:sldId id="261" r:id="rId10"/>
    <p:sldId id="262" r:id="rId11"/>
    <p:sldId id="263" r:id="rId12"/>
    <p:sldId id="264" r:id="rId13"/>
    <p:sldId id="265" r:id="rId14"/>
    <p:sldId id="272" r:id="rId15"/>
    <p:sldId id="266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5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F5444-817F-49DE-80AA-D1649C8701D2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D5360-EE8F-4B1E-B6F7-B51FB62A78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44974-5EBD-4937-98AC-DA70DBF7A3E3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1FF35-E396-446A-9A93-2C5070AC0B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6B102-537E-4E08-8A9D-30ED26A10940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E2259C-AF44-41B3-8492-86CA19C12A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C3CCB3-0548-474E-9E7E-D8E4EB87BD19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DA446C-66A8-426B-95AC-1D3CCC8ABA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FF839-D8A8-4E6E-A8DA-FF3AD61EB557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95F58-8683-4173-90AE-708B3218A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04966-FDA7-462E-88F3-3873A4796C6F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7AF72-8C76-4547-86E5-72A3AA30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1909D-A1F9-4BD1-8884-3524D5070804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70B18-507C-407A-94FB-78F48294BF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CA980-AABA-49E6-AA7D-2F493AF921BB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E3B9E-EB3C-4B4D-BE7E-C782E83DFF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8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11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77CB2-2AE5-4382-BF24-3D8A40A0A1F0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6CB85-EB3F-428F-8BF3-D9EEF696B8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86625C-87AF-4ACF-B24E-E5325530AC2B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1EDAA-18F6-49ED-9D0D-7791648F3E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AC33D-9952-4E1D-B56F-1795CA21D3D2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C864E-E33C-45A3-BAF7-FCCFFC227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4997BC2-DD50-4689-A7ED-AE7D418AF4EB}" type="datetimeFigureOut">
              <a:rPr lang="en-US"/>
              <a:pPr>
                <a:defRPr/>
              </a:pPr>
              <a:t>12/1/2010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C98B3-E20B-4CD8-8074-E667E00315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4" r:id="rId2"/>
    <p:sldLayoutId id="214748367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4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39639D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Cellular Respiration</a:t>
            </a:r>
            <a:endParaRPr lang="en-US" dirty="0"/>
          </a:p>
        </p:txBody>
      </p:sp>
      <p:sp>
        <p:nvSpPr>
          <p:cNvPr id="13314" name="Subtitle 2"/>
          <p:cNvSpPr>
            <a:spLocks noGrp="1"/>
          </p:cNvSpPr>
          <p:nvPr>
            <p:ph type="subTitle" idx="1"/>
          </p:nvPr>
        </p:nvSpPr>
        <p:spPr>
          <a:xfrm>
            <a:off x="533400" y="3228975"/>
            <a:ext cx="7854950" cy="1752600"/>
          </a:xfrm>
        </p:spPr>
        <p:txBody>
          <a:bodyPr/>
          <a:lstStyle/>
          <a:p>
            <a:pPr marR="0" eaLnBrk="1" hangingPunct="1"/>
            <a:r>
              <a:rPr lang="en-US" smtClean="0"/>
              <a:t>Introduction/Basic Info</a:t>
            </a:r>
          </a:p>
          <a:p>
            <a:pPr marR="0" eaLnBrk="1" hangingPunct="1"/>
            <a:r>
              <a:rPr lang="en-US" sz="1200" smtClean="0"/>
              <a:t>Furlow</a:t>
            </a:r>
          </a:p>
          <a:p>
            <a:pPr marR="0" eaLnBrk="1" hangingPunct="1"/>
            <a:r>
              <a:rPr lang="en-US" sz="1200" smtClean="0"/>
              <a:t>Novi High School</a:t>
            </a:r>
          </a:p>
        </p:txBody>
      </p:sp>
      <p:pic>
        <p:nvPicPr>
          <p:cNvPr id="13315" name="Picture 5" descr="Adenosine_Triphosphate_Rota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429000"/>
            <a:ext cx="4248150" cy="308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7" descr="cornucopi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762000"/>
            <a:ext cx="15716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7" name="Line 8"/>
          <p:cNvSpPr>
            <a:spLocks noChangeShapeType="1"/>
          </p:cNvSpPr>
          <p:nvPr/>
        </p:nvSpPr>
        <p:spPr bwMode="auto">
          <a:xfrm>
            <a:off x="1828800" y="2514600"/>
            <a:ext cx="0" cy="914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18" name="Line 9"/>
          <p:cNvSpPr>
            <a:spLocks noChangeShapeType="1"/>
          </p:cNvSpPr>
          <p:nvPr/>
        </p:nvSpPr>
        <p:spPr bwMode="auto">
          <a:xfrm>
            <a:off x="4114800" y="5334000"/>
            <a:ext cx="1066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13319" name="Picture 11" descr="03game02_45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4267200"/>
            <a:ext cx="226060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0" name="Picture 13" descr="50495_112937625401729_5963646_n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53200" y="3657600"/>
            <a:ext cx="4714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8229600" cy="808037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Controlled release of energy from organic compounds in cells to form adenosine </a:t>
            </a:r>
            <a:r>
              <a:rPr lang="en-US" dirty="0" err="1" smtClean="0"/>
              <a:t>triphosphate</a:t>
            </a:r>
            <a:r>
              <a:rPr lang="en-US" dirty="0" smtClean="0"/>
              <a:t> (ATP)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3094038"/>
            <a:ext cx="8229600" cy="80803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sz="2600" dirty="0" err="1">
                <a:latin typeface="+mn-lt"/>
              </a:rPr>
              <a:t>Glycolysis</a:t>
            </a:r>
            <a:r>
              <a:rPr lang="en-US" sz="2600" dirty="0">
                <a:latin typeface="+mn-lt"/>
              </a:rPr>
              <a:t> is the first step in respiration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4251325"/>
            <a:ext cx="8229600" cy="8080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sz="2600" dirty="0">
                <a:latin typeface="+mn-lt"/>
              </a:rPr>
              <a:t>Two types of respiration:  Aerobic (uses oxygen) and anaerobic (without oxygen)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5410200"/>
            <a:ext cx="8229600" cy="1219200"/>
          </a:xfrm>
          <a:prstGeom prst="rect">
            <a:avLst/>
          </a:prstGeom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sz="2600" dirty="0">
                <a:latin typeface="+mn-lt"/>
              </a:rPr>
              <a:t>Two types of anaerobic respiration:  Lactic acid fermentation (humans) and alcoholic fermentation (yeast)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build="p"/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8229600" cy="808037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Organic compounds contained stored (potential) chemical energy in their bonds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3094038"/>
            <a:ext cx="8229600" cy="80803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sz="2600" dirty="0">
                <a:latin typeface="+mn-lt"/>
              </a:rPr>
              <a:t>When that energy is released, cells can use it for metabolism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4251325"/>
            <a:ext cx="8229600" cy="8080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sz="2600" dirty="0">
                <a:latin typeface="+mn-lt"/>
              </a:rPr>
              <a:t>Glucose (from glycogen stores) typically used first as the source of energy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5410200"/>
            <a:ext cx="8229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No glucose?  Lipids next, then amino acids/proteins (only in extreme cases- i.e. starvation)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build="p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ATP- </a:t>
            </a:r>
            <a:r>
              <a:rPr lang="en-US" sz="4000" smtClean="0"/>
              <a:t>synthesized in mitochondria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438400"/>
            <a:ext cx="8229600" cy="808038"/>
          </a:xfrm>
        </p:spPr>
        <p:txBody>
          <a:bodyPr/>
          <a:lstStyle/>
          <a:p>
            <a:pPr eaLnBrk="1" hangingPunct="1"/>
            <a:r>
              <a:rPr lang="en-US" smtClean="0"/>
              <a:t>Energy “currency” of life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1000" y="3810000"/>
            <a:ext cx="8229600" cy="8080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>
                <a:latin typeface="Constantia" pitchFamily="18" charset="0"/>
              </a:rPr>
              <a:t>High energy molecule that stores energy for just about every cellular process we need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04800" y="5334000"/>
            <a:ext cx="82296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Found in the cytoplasm and the nucleoplasm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ATP</a:t>
            </a:r>
          </a:p>
        </p:txBody>
      </p:sp>
      <p:pic>
        <p:nvPicPr>
          <p:cNvPr id="17410" name="Picture 5" descr="atpmo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00200"/>
            <a:ext cx="7162800" cy="491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ATP</a:t>
            </a:r>
          </a:p>
        </p:txBody>
      </p:sp>
      <p:pic>
        <p:nvPicPr>
          <p:cNvPr id="18434" name="Picture 3" descr="atpmo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914400"/>
            <a:ext cx="32766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/>
          </p:cNvSpPr>
          <p:nvPr/>
        </p:nvSpPr>
        <p:spPr bwMode="auto">
          <a:xfrm>
            <a:off x="381000" y="1905000"/>
            <a:ext cx="50292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lnSpc>
                <a:spcPct val="90000"/>
              </a:lnSpc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Phosphate part is most important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1000" y="3100388"/>
            <a:ext cx="8229600" cy="11430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73050" indent="-273050">
              <a:lnSpc>
                <a:spcPct val="90000"/>
              </a:lnSpc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sz="2600">
                <a:latin typeface="Constantia" pitchFamily="18" charset="0"/>
              </a:rPr>
              <a:t>Because of the negative charge on all the attached oxygens, there is a lot of potential energy in these bonds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1000" y="4548188"/>
            <a:ext cx="8229600" cy="80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lnSpc>
                <a:spcPct val="90000"/>
              </a:lnSpc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Removing the last phosphate group makes the molecule much “happier” (chemically stable)</a:t>
            </a:r>
          </a:p>
        </p:txBody>
      </p:sp>
      <p:sp>
        <p:nvSpPr>
          <p:cNvPr id="2" name="Content Placeholder 2"/>
          <p:cNvSpPr txBox="1">
            <a:spLocks/>
          </p:cNvSpPr>
          <p:nvPr/>
        </p:nvSpPr>
        <p:spPr bwMode="auto">
          <a:xfrm>
            <a:off x="381000" y="5695950"/>
            <a:ext cx="82296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lnSpc>
                <a:spcPct val="90000"/>
              </a:lnSpc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Breaking that bond releases about 7,000 calories per mole (6.02 x 10</a:t>
            </a:r>
            <a:r>
              <a:rPr lang="en-US" sz="2600" baseline="30000">
                <a:latin typeface="Constantia" pitchFamily="18" charset="0"/>
              </a:rPr>
              <a:t>23 </a:t>
            </a:r>
            <a:r>
              <a:rPr lang="en-US" sz="2600">
                <a:latin typeface="Constantia" pitchFamily="18" charset="0"/>
              </a:rPr>
              <a:t>molecules) similar to a whole peanut!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build="p"/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ATP to ADP</a:t>
            </a:r>
          </a:p>
        </p:txBody>
      </p:sp>
      <p:pic>
        <p:nvPicPr>
          <p:cNvPr id="19458" name="Picture 7" descr="atptoad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606425"/>
            <a:ext cx="5791200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1752" name="Group 8"/>
          <p:cNvGrpSpPr>
            <a:grpSpLocks/>
          </p:cNvGrpSpPr>
          <p:nvPr/>
        </p:nvGrpSpPr>
        <p:grpSpPr bwMode="auto">
          <a:xfrm>
            <a:off x="381000" y="4038600"/>
            <a:ext cx="8229600" cy="533400"/>
            <a:chOff x="336" y="2784"/>
            <a:chExt cx="5184" cy="336"/>
          </a:xfrm>
        </p:grpSpPr>
        <p:sp>
          <p:nvSpPr>
            <p:cNvPr id="19461" name="Content Placeholder 2"/>
            <p:cNvSpPr txBox="1">
              <a:spLocks/>
            </p:cNvSpPr>
            <p:nvPr/>
          </p:nvSpPr>
          <p:spPr bwMode="auto">
            <a:xfrm>
              <a:off x="336" y="2784"/>
              <a:ext cx="5184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273050" indent="-273050">
                <a:spcBef>
                  <a:spcPct val="20000"/>
                </a:spcBef>
                <a:buClr>
                  <a:srgbClr val="EB641B"/>
                </a:buClr>
                <a:buSzPct val="95000"/>
                <a:buFont typeface="Wingdings 2" pitchFamily="18" charset="2"/>
                <a:buChar char=""/>
              </a:pPr>
              <a:r>
                <a:rPr lang="en-US" sz="2600">
                  <a:latin typeface="Constantia" pitchFamily="18" charset="0"/>
                </a:rPr>
                <a:t>“renewable” molecule;	ATP		ADP, energy to do this comes from food you eat</a:t>
              </a:r>
            </a:p>
          </p:txBody>
        </p:sp>
        <p:sp>
          <p:nvSpPr>
            <p:cNvPr id="19462" name="Line 10"/>
            <p:cNvSpPr>
              <a:spLocks noChangeShapeType="1"/>
            </p:cNvSpPr>
            <p:nvPr/>
          </p:nvSpPr>
          <p:spPr bwMode="auto">
            <a:xfrm>
              <a:off x="3180" y="2910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3" name="Line 11"/>
            <p:cNvSpPr>
              <a:spLocks noChangeShapeType="1"/>
            </p:cNvSpPr>
            <p:nvPr/>
          </p:nvSpPr>
          <p:spPr bwMode="auto">
            <a:xfrm flipH="1">
              <a:off x="3162" y="2979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Content Placeholder 2"/>
          <p:cNvSpPr txBox="1">
            <a:spLocks/>
          </p:cNvSpPr>
          <p:nvPr/>
        </p:nvSpPr>
        <p:spPr bwMode="auto">
          <a:xfrm>
            <a:off x="381000" y="5257800"/>
            <a:ext cx="8229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lnSpc>
                <a:spcPct val="90000"/>
              </a:lnSpc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Constantly being used and remade…estimated the more than </a:t>
            </a:r>
            <a:r>
              <a:rPr lang="en-US" sz="2600">
                <a:solidFill>
                  <a:srgbClr val="000000"/>
                </a:solidFill>
                <a:latin typeface="Constantia" pitchFamily="18" charset="0"/>
              </a:rPr>
              <a:t>2 x 10</a:t>
            </a:r>
            <a:r>
              <a:rPr lang="en-US" sz="2600" baseline="30000">
                <a:solidFill>
                  <a:srgbClr val="000000"/>
                </a:solidFill>
                <a:latin typeface="Constantia" pitchFamily="18" charset="0"/>
              </a:rPr>
              <a:t>26</a:t>
            </a:r>
            <a:r>
              <a:rPr lang="en-US" sz="2600">
                <a:solidFill>
                  <a:srgbClr val="000000"/>
                </a:solidFill>
                <a:latin typeface="Constantia" pitchFamily="18" charset="0"/>
              </a:rPr>
              <a:t> molecules or &gt;160kg (352lbs) of ATP is formed in the human body daily!</a:t>
            </a:r>
            <a:r>
              <a:rPr lang="en-US" sz="2600">
                <a:latin typeface="Constant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Glycolysis- </a:t>
            </a:r>
            <a:r>
              <a:rPr lang="en-US" sz="4000" smtClean="0"/>
              <a:t>in the cytoplasm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35163"/>
            <a:ext cx="8229600" cy="808037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Glucose enters the cell via the cell membrane and stays in the cytoplasm 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1000" y="3717925"/>
            <a:ext cx="8229600" cy="946150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sz="2600" dirty="0">
                <a:latin typeface="+mn-lt"/>
              </a:rPr>
              <a:t>After  a few modifications and a handful of reactions (Ch. 8) glucose eventually cleaved into 2 </a:t>
            </a:r>
            <a:r>
              <a:rPr lang="en-US" sz="2600" dirty="0" err="1">
                <a:latin typeface="+mn-lt"/>
              </a:rPr>
              <a:t>pyruvate</a:t>
            </a:r>
            <a:r>
              <a:rPr lang="en-US" sz="2600" dirty="0">
                <a:latin typeface="+mn-lt"/>
              </a:rPr>
              <a:t> (3-C)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5638800"/>
            <a:ext cx="8229600" cy="8080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sz="2600" dirty="0">
                <a:latin typeface="+mn-lt"/>
              </a:rPr>
              <a:t>2 ATP molecules needed to start, 4 ATP molecules produced, </a:t>
            </a:r>
            <a:r>
              <a:rPr lang="en-US" sz="2600" b="1" i="1" u="sng" dirty="0">
                <a:latin typeface="+mn-lt"/>
              </a:rPr>
              <a:t>net gain of 2 ATPs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Anaerobic Respiration-</a:t>
            </a:r>
            <a:r>
              <a:rPr lang="en-US" sz="2800" smtClean="0"/>
              <a:t>cytoplasm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8229600" cy="808037"/>
          </a:xfrm>
        </p:spPr>
        <p:txBody>
          <a:bodyPr/>
          <a:lstStyle/>
          <a:p>
            <a:pPr eaLnBrk="1" hangingPunct="1"/>
            <a:r>
              <a:rPr lang="en-US" smtClean="0"/>
              <a:t>Breakdown of organic molecules for ATP </a:t>
            </a:r>
            <a:r>
              <a:rPr lang="en-US" i="1" smtClean="0"/>
              <a:t>WITHOUT</a:t>
            </a:r>
            <a:r>
              <a:rPr lang="en-US" smtClean="0"/>
              <a:t> using oxygen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" y="2895600"/>
            <a:ext cx="82296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Organisms that do this only are called anaerobes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3810000"/>
            <a:ext cx="82296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Fermentation is another word for this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449580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Two main pathways:  Alcoholic Fermentation and Lactic acid fermentation  </a:t>
            </a:r>
          </a:p>
        </p:txBody>
      </p:sp>
      <p:sp>
        <p:nvSpPr>
          <p:cNvPr id="2" name="Content Placeholder 2"/>
          <p:cNvSpPr txBox="1">
            <a:spLocks/>
          </p:cNvSpPr>
          <p:nvPr/>
        </p:nvSpPr>
        <p:spPr bwMode="auto">
          <a:xfrm>
            <a:off x="381000" y="571500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 i="1">
                <a:latin typeface="Constantia" pitchFamily="18" charset="0"/>
              </a:rPr>
              <a:t>ONLY</a:t>
            </a:r>
            <a:r>
              <a:rPr lang="en-US" sz="2600">
                <a:latin typeface="Constantia" pitchFamily="18" charset="0"/>
              </a:rPr>
              <a:t> ATP comes from glycolysis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build="p"/>
      <p:bldP spid="7" grpId="0" build="p"/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Anaerobic Respiration</a:t>
            </a:r>
            <a:br>
              <a:rPr lang="en-US" dirty="0" smtClean="0"/>
            </a:br>
            <a:r>
              <a:rPr lang="en-US" dirty="0" smtClean="0"/>
              <a:t>Lactic Acid Fermentation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8229600" cy="808037"/>
          </a:xfrm>
        </p:spPr>
        <p:txBody>
          <a:bodyPr/>
          <a:lstStyle/>
          <a:p>
            <a:pPr eaLnBrk="1" hangingPunct="1"/>
            <a:r>
              <a:rPr lang="en-US" smtClean="0"/>
              <a:t>Occurs in Humans—why your muscles “burn” when you workout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" y="2895600"/>
            <a:ext cx="8229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Normally in aerobic organisms that find themselves in a situation where oxygen is no longer available—why you breather harder when you work out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5410200"/>
            <a:ext cx="82296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When O</a:t>
            </a:r>
            <a:r>
              <a:rPr lang="en-US" sz="2600" baseline="-25000">
                <a:latin typeface="Constantia" pitchFamily="18" charset="0"/>
              </a:rPr>
              <a:t>2</a:t>
            </a:r>
            <a:r>
              <a:rPr lang="en-US" sz="2600">
                <a:latin typeface="Constantia" pitchFamily="18" charset="0"/>
              </a:rPr>
              <a:t> becomes available, lactate converted back to pyruvate and then pushed through the aerobic pathway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81000" y="4343400"/>
            <a:ext cx="8229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Pyruvate converted to lactate (3-C), no CO</a:t>
            </a:r>
            <a:r>
              <a:rPr lang="en-US" sz="2600" baseline="-25000">
                <a:latin typeface="Constantia" pitchFamily="18" charset="0"/>
              </a:rPr>
              <a:t>2</a:t>
            </a:r>
            <a:r>
              <a:rPr lang="en-US" sz="2600">
                <a:latin typeface="Constantia" pitchFamily="18" charset="0"/>
              </a:rPr>
              <a:t> produced, </a:t>
            </a:r>
            <a:r>
              <a:rPr lang="en-US" sz="2600" b="1" i="1" u="sng">
                <a:latin typeface="Constantia" pitchFamily="18" charset="0"/>
              </a:rPr>
              <a:t>no ATP produced</a:t>
            </a:r>
            <a:r>
              <a:rPr lang="en-US" sz="2600">
                <a:latin typeface="Constantia" pitchFamily="18" charset="0"/>
              </a:rPr>
              <a:t>  </a:t>
            </a:r>
          </a:p>
        </p:txBody>
      </p:sp>
      <p:pic>
        <p:nvPicPr>
          <p:cNvPr id="22534" name="Picture 7" descr="muscle-gu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1800" y="0"/>
            <a:ext cx="2362200" cy="196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build="p"/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Anaerobic Respiration</a:t>
            </a:r>
            <a:br>
              <a:rPr lang="en-US" dirty="0" smtClean="0"/>
            </a:br>
            <a:r>
              <a:rPr lang="en-US" dirty="0" smtClean="0"/>
              <a:t>Alcoholic Fermentation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36788"/>
            <a:ext cx="8229600" cy="808037"/>
          </a:xfrm>
        </p:spPr>
        <p:txBody>
          <a:bodyPr/>
          <a:lstStyle/>
          <a:p>
            <a:pPr eaLnBrk="1" hangingPunct="1"/>
            <a:r>
              <a:rPr lang="en-US" smtClean="0"/>
              <a:t>Occurs in yeast cells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" y="3284538"/>
            <a:ext cx="8229600" cy="80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This is a “normal” situation for the yeast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4251325"/>
            <a:ext cx="82296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Pyruvate converted to ethanol (2-C) and CO</a:t>
            </a:r>
            <a:r>
              <a:rPr lang="en-US" sz="2600" baseline="-25000">
                <a:latin typeface="Constantia" pitchFamily="18" charset="0"/>
              </a:rPr>
              <a:t>2</a:t>
            </a:r>
            <a:r>
              <a:rPr lang="en-US" sz="2600">
                <a:latin typeface="Constantia" pitchFamily="18" charset="0"/>
              </a:rPr>
              <a:t> is released…both waste products for the organism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5410200"/>
            <a:ext cx="8229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Bakers’ and brewers’ yeast allows bread to rise and beer to be carbonated (most commercial beer is forcibly carbonated as well)</a:t>
            </a:r>
          </a:p>
        </p:txBody>
      </p:sp>
      <p:pic>
        <p:nvPicPr>
          <p:cNvPr id="23558" name="Picture 7" descr="10-09CarbonationTaste0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48500" y="914400"/>
            <a:ext cx="209550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9" name="Picture 9" descr="proofing_genzano_l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1828800"/>
            <a:ext cx="2514600" cy="137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build="p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Aerobic Respiration-</a:t>
            </a:r>
            <a:r>
              <a:rPr lang="en-US" sz="3600" smtClean="0"/>
              <a:t>mitochondria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8229600" cy="808037"/>
          </a:xfrm>
        </p:spPr>
        <p:txBody>
          <a:bodyPr/>
          <a:lstStyle/>
          <a:p>
            <a:pPr eaLnBrk="1" hangingPunct="1"/>
            <a:r>
              <a:rPr lang="en-US" smtClean="0"/>
              <a:t>Most efficient pathway to produce ATP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" y="2667000"/>
            <a:ext cx="82296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Begins with glycolysis just like anaerobic…pyruvate enters a mitochondrion to finish pathway though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3733800"/>
            <a:ext cx="82296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Pyruvate loses a C as CO2, becomes acetyl-CoA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33400" y="45720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Acetyl-CoA enters Kreb’s cycle where two more CO</a:t>
            </a:r>
            <a:r>
              <a:rPr lang="en-US" sz="2600" baseline="-25000">
                <a:latin typeface="Constantia" pitchFamily="18" charset="0"/>
              </a:rPr>
              <a:t>2</a:t>
            </a:r>
            <a:r>
              <a:rPr lang="en-US" sz="2600">
                <a:latin typeface="Constantia" pitchFamily="18" charset="0"/>
              </a:rPr>
              <a:t> molecules are produced, as well as some ATP  </a:t>
            </a:r>
          </a:p>
        </p:txBody>
      </p:sp>
      <p:sp>
        <p:nvSpPr>
          <p:cNvPr id="2" name="Content Placeholder 2"/>
          <p:cNvSpPr txBox="1">
            <a:spLocks/>
          </p:cNvSpPr>
          <p:nvPr/>
        </p:nvSpPr>
        <p:spPr bwMode="auto">
          <a:xfrm>
            <a:off x="457200" y="55626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Byproducts of Kreb’s cycle move onto electron transport chain  where most ATPs are produced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build="p"/>
      <p:bldP spid="7" grpId="0" build="p"/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500" smtClean="0"/>
              <a:t>Aerobic Respiration</a:t>
            </a:r>
            <a:br>
              <a:rPr lang="en-US" sz="4500" smtClean="0"/>
            </a:br>
            <a:r>
              <a:rPr lang="en-US" sz="4500" smtClean="0"/>
              <a:t>Kreb’s Cycle-</a:t>
            </a:r>
            <a:r>
              <a:rPr lang="en-US" sz="2400" smtClean="0"/>
              <a:t>mitochondrial matrix</a:t>
            </a:r>
          </a:p>
        </p:txBody>
      </p:sp>
      <p:pic>
        <p:nvPicPr>
          <p:cNvPr id="25602" name="Picture 10" descr="KrebsCyc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939925"/>
            <a:ext cx="6934200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Aerobic Respiration-</a:t>
            </a:r>
            <a:r>
              <a:rPr lang="en-US" sz="3600" smtClean="0"/>
              <a:t>mitochondria</a:t>
            </a:r>
          </a:p>
        </p:txBody>
      </p:sp>
      <p:sp>
        <p:nvSpPr>
          <p:cNvPr id="2" name="Content Placeholder 2"/>
          <p:cNvSpPr txBox="1">
            <a:spLocks/>
          </p:cNvSpPr>
          <p:nvPr/>
        </p:nvSpPr>
        <p:spPr bwMode="auto">
          <a:xfrm>
            <a:off x="457200" y="55626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Folds of the mitochondrial cristae provide huge surface area = high efficiency/production  </a:t>
            </a:r>
          </a:p>
        </p:txBody>
      </p:sp>
      <p:pic>
        <p:nvPicPr>
          <p:cNvPr id="30729" name="Picture 9" descr="mitochondri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057400"/>
            <a:ext cx="3322638" cy="350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Cellular Respiration-Summary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8229600" cy="808037"/>
          </a:xfrm>
        </p:spPr>
        <p:txBody>
          <a:bodyPr/>
          <a:lstStyle/>
          <a:p>
            <a:pPr eaLnBrk="1" hangingPunct="1"/>
            <a:r>
              <a:rPr lang="en-US" smtClean="0"/>
              <a:t>Can occur with or without oxygen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" y="3094038"/>
            <a:ext cx="8229600" cy="80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Aerobic is more efficient (net gain of 2 ATPs vs possible gain of 36 ATPs)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4251325"/>
            <a:ext cx="82296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Glycolysis and anaerobic respiration occur in the cytoplasm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5562600"/>
            <a:ext cx="8229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EB641B"/>
              </a:buClr>
              <a:buSzPct val="95000"/>
              <a:buFont typeface="Wingdings 2" pitchFamily="18" charset="2"/>
              <a:buChar char=""/>
            </a:pPr>
            <a:r>
              <a:rPr lang="en-US" sz="2600">
                <a:latin typeface="Constantia" pitchFamily="18" charset="0"/>
              </a:rPr>
              <a:t>Aerobic respiration occurs in the mitochondria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build="p"/>
      <p:bldP spid="7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871089BA7C304F9627CFF9AD5C8247" ma:contentTypeVersion="0" ma:contentTypeDescription="Create a new document." ma:contentTypeScope="" ma:versionID="78164330b7a1147156a02fcf51a39d1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B6A0AB-E49B-44F5-9747-EEF3B10224D4}"/>
</file>

<file path=customXml/itemProps2.xml><?xml version="1.0" encoding="utf-8"?>
<ds:datastoreItem xmlns:ds="http://schemas.openxmlformats.org/officeDocument/2006/customXml" ds:itemID="{9610EACD-90C1-44CC-8952-127910E06663}"/>
</file>

<file path=customXml/itemProps3.xml><?xml version="1.0" encoding="utf-8"?>
<ds:datastoreItem xmlns:ds="http://schemas.openxmlformats.org/officeDocument/2006/customXml" ds:itemID="{344DA6FE-D7F0-47A0-9870-A777B09F8EAA}"/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649</TotalTime>
  <Words>543</Words>
  <Application>Microsoft Office PowerPoint</Application>
  <PresentationFormat>On-screen Show (4:3)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Constantia</vt:lpstr>
      <vt:lpstr>Wingdings 2</vt:lpstr>
      <vt:lpstr>Flow</vt:lpstr>
      <vt:lpstr>Flow</vt:lpstr>
      <vt:lpstr>Flow</vt:lpstr>
      <vt:lpstr>Flow</vt:lpstr>
      <vt:lpstr>Slide 1</vt:lpstr>
      <vt:lpstr>Respiration</vt:lpstr>
      <vt:lpstr>Respiration</vt:lpstr>
      <vt:lpstr>ATP- synthesized in mitochondria</vt:lpstr>
      <vt:lpstr>ATP</vt:lpstr>
      <vt:lpstr>ATP</vt:lpstr>
      <vt:lpstr>ATP to ADP</vt:lpstr>
      <vt:lpstr>Glycolysis- in the cytoplasm</vt:lpstr>
      <vt:lpstr>Anaerobic Respiration-cytoplasm</vt:lpstr>
      <vt:lpstr>Anaerobic Respiration Lactic Acid Fermentation</vt:lpstr>
      <vt:lpstr>Anaerobic Respiration Alcoholic Fermentation</vt:lpstr>
      <vt:lpstr>Aerobic Respiration-mitochondria</vt:lpstr>
      <vt:lpstr>Aerobic Respiration Kreb’s Cycle-mitochondrial matrix</vt:lpstr>
      <vt:lpstr>Aerobic Respiration-mitochondria</vt:lpstr>
      <vt:lpstr>Cellular Respiration-Summary</vt:lpstr>
    </vt:vector>
  </TitlesOfParts>
  <Company>Novi Community Schools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Cellular Respiration</dc:title>
  <dc:creator>Novi Community Schools</dc:creator>
  <cp:lastModifiedBy>Seth Furlow</cp:lastModifiedBy>
  <cp:revision>44</cp:revision>
  <dcterms:created xsi:type="dcterms:W3CDTF">2010-11-30T20:16:35Z</dcterms:created>
  <dcterms:modified xsi:type="dcterms:W3CDTF">2010-12-02T02:44:33Z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0x0101002C871089BA7C304F9627CFF9AD5C8247</vt:lpwstr>
  </property>
</Properties>
</file>